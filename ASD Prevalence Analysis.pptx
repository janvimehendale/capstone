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7_EBF72D46.xml" ContentType="application/vnd.ms-powerpoint.comments+xml"/>
  <Override PartName="/ppt/comments/modernComment_108_50D5A6A7.xml" ContentType="application/vnd.ms-powerpoint.comments+xml"/>
  <Override PartName="/ppt/comments/modernComment_109_7F315BF9.xml" ContentType="application/vnd.ms-powerpoint.comments+xml"/>
  <Override PartName="/ppt/comments/modernComment_10A_7D987140.xml" ContentType="application/vnd.ms-powerpoint.comments+xml"/>
  <Override PartName="/ppt/comments/modernComment_10B_AEA7A9AA.xml" ContentType="application/vnd.ms-powerpoint.comments+xml"/>
  <Override PartName="/ppt/comments/modernComment_10C_A5C82C5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70" r:id="rId5"/>
    <p:sldId id="269" r:id="rId6"/>
    <p:sldId id="258"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E41324-59B0-3F1C-D906-0FB869D00C1F}" name="Janvi Mehendale" initials="JM" userId="483805976292d47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6B9"/>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B2E51D-B044-4E4A-BDEB-3FCB08D2417C}" v="141" dt="2026-02-06T01:18:54.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1" d="100"/>
          <a:sy n="61" d="100"/>
        </p:scale>
        <p:origin x="68"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vi Mehendale" userId="483805976292d47c" providerId="LiveId" clId="{2847D5CC-4627-4276-8097-894459CF8D93}"/>
    <pc:docChg chg="undo custSel addSld delSld modSld sldOrd">
      <pc:chgData name="Janvi Mehendale" userId="483805976292d47c" providerId="LiveId" clId="{2847D5CC-4627-4276-8097-894459CF8D93}" dt="2026-02-06T01:22:09.998" v="2472" actId="20577"/>
      <pc:docMkLst>
        <pc:docMk/>
      </pc:docMkLst>
      <pc:sldChg chg="addSp delSp modSp mod setBg addAnim delAnim">
        <pc:chgData name="Janvi Mehendale" userId="483805976292d47c" providerId="LiveId" clId="{2847D5CC-4627-4276-8097-894459CF8D93}" dt="2026-01-26T21:14:48.697" v="1364" actId="26606"/>
        <pc:sldMkLst>
          <pc:docMk/>
          <pc:sldMk cId="495934480" sldId="256"/>
        </pc:sldMkLst>
        <pc:spChg chg="mod">
          <ac:chgData name="Janvi Mehendale" userId="483805976292d47c" providerId="LiveId" clId="{2847D5CC-4627-4276-8097-894459CF8D93}" dt="2026-01-26T21:14:48.697" v="1364" actId="26606"/>
          <ac:spMkLst>
            <pc:docMk/>
            <pc:sldMk cId="495934480" sldId="256"/>
            <ac:spMk id="2" creationId="{AD5754DC-2236-54EC-F46B-9EF7CC4B24A0}"/>
          </ac:spMkLst>
        </pc:spChg>
        <pc:spChg chg="mod">
          <ac:chgData name="Janvi Mehendale" userId="483805976292d47c" providerId="LiveId" clId="{2847D5CC-4627-4276-8097-894459CF8D93}" dt="2026-01-26T21:14:48.697" v="1364" actId="26606"/>
          <ac:spMkLst>
            <pc:docMk/>
            <pc:sldMk cId="495934480" sldId="256"/>
            <ac:spMk id="3" creationId="{94D83A72-ECB7-AF99-D26F-54A8A7694742}"/>
          </ac:spMkLst>
        </pc:spChg>
        <pc:spChg chg="add del">
          <ac:chgData name="Janvi Mehendale" userId="483805976292d47c" providerId="LiveId" clId="{2847D5CC-4627-4276-8097-894459CF8D93}" dt="2026-01-26T21:14:48.697" v="1364" actId="26606"/>
          <ac:spMkLst>
            <pc:docMk/>
            <pc:sldMk cId="495934480" sldId="256"/>
            <ac:spMk id="10" creationId="{ECC07320-C2CA-4E29-8481-9D9E143C7788}"/>
          </ac:spMkLst>
        </pc:spChg>
        <pc:spChg chg="add del">
          <ac:chgData name="Janvi Mehendale" userId="483805976292d47c" providerId="LiveId" clId="{2847D5CC-4627-4276-8097-894459CF8D93}" dt="2026-01-26T21:14:48.697" v="1364" actId="26606"/>
          <ac:spMkLst>
            <pc:docMk/>
            <pc:sldMk cId="495934480" sldId="256"/>
            <ac:spMk id="12" creationId="{178FB36B-5BFE-42CA-BC60-1115E0D95EEC}"/>
          </ac:spMkLst>
        </pc:spChg>
        <pc:picChg chg="mod ord">
          <ac:chgData name="Janvi Mehendale" userId="483805976292d47c" providerId="LiveId" clId="{2847D5CC-4627-4276-8097-894459CF8D93}" dt="2026-01-26T21:14:48.697" v="1364" actId="26606"/>
          <ac:picMkLst>
            <pc:docMk/>
            <pc:sldMk cId="495934480" sldId="256"/>
            <ac:picMk id="5" creationId="{083A6DED-F6D4-F2D7-F033-311A678AE1EC}"/>
          </ac:picMkLst>
        </pc:picChg>
      </pc:sldChg>
      <pc:sldChg chg="modSp mod">
        <pc:chgData name="Janvi Mehendale" userId="483805976292d47c" providerId="LiveId" clId="{2847D5CC-4627-4276-8097-894459CF8D93}" dt="2026-01-26T02:41:21.462" v="728" actId="20577"/>
        <pc:sldMkLst>
          <pc:docMk/>
          <pc:sldMk cId="1582448782" sldId="258"/>
        </pc:sldMkLst>
        <pc:spChg chg="mod">
          <ac:chgData name="Janvi Mehendale" userId="483805976292d47c" providerId="LiveId" clId="{2847D5CC-4627-4276-8097-894459CF8D93}" dt="2026-01-26T02:41:15.138" v="722" actId="20577"/>
          <ac:spMkLst>
            <pc:docMk/>
            <pc:sldMk cId="1582448782" sldId="258"/>
            <ac:spMk id="2" creationId="{98A7B53F-A02F-5BCA-752C-C6ADB63BCAE8}"/>
          </ac:spMkLst>
        </pc:spChg>
        <pc:spChg chg="mod">
          <ac:chgData name="Janvi Mehendale" userId="483805976292d47c" providerId="LiveId" clId="{2847D5CC-4627-4276-8097-894459CF8D93}" dt="2026-01-26T02:41:21.462" v="728" actId="20577"/>
          <ac:spMkLst>
            <pc:docMk/>
            <pc:sldMk cId="1582448782" sldId="258"/>
            <ac:spMk id="3" creationId="{8187949A-B32A-590E-3F30-C2B69444018D}"/>
          </ac:spMkLst>
        </pc:spChg>
      </pc:sldChg>
      <pc:sldChg chg="modSp mod ord">
        <pc:chgData name="Janvi Mehendale" userId="483805976292d47c" providerId="LiveId" clId="{2847D5CC-4627-4276-8097-894459CF8D93}" dt="2026-02-06T01:19:42.983" v="2471"/>
        <pc:sldMkLst>
          <pc:docMk/>
          <pc:sldMk cId="1242786828" sldId="259"/>
        </pc:sldMkLst>
        <pc:spChg chg="mod">
          <ac:chgData name="Janvi Mehendale" userId="483805976292d47c" providerId="LiveId" clId="{2847D5CC-4627-4276-8097-894459CF8D93}" dt="2026-01-26T02:31:38.146" v="582" actId="1076"/>
          <ac:spMkLst>
            <pc:docMk/>
            <pc:sldMk cId="1242786828" sldId="259"/>
            <ac:spMk id="2" creationId="{58587076-2FC5-E74C-1671-50B23ADF1337}"/>
          </ac:spMkLst>
        </pc:spChg>
        <pc:spChg chg="mod">
          <ac:chgData name="Janvi Mehendale" userId="483805976292d47c" providerId="LiveId" clId="{2847D5CC-4627-4276-8097-894459CF8D93}" dt="2026-01-26T02:37:02.823" v="710" actId="114"/>
          <ac:spMkLst>
            <pc:docMk/>
            <pc:sldMk cId="1242786828" sldId="259"/>
            <ac:spMk id="3" creationId="{B011DD6D-1FA4-0C75-3F25-5EB33B52571C}"/>
          </ac:spMkLst>
        </pc:spChg>
        <pc:picChg chg="mod">
          <ac:chgData name="Janvi Mehendale" userId="483805976292d47c" providerId="LiveId" clId="{2847D5CC-4627-4276-8097-894459CF8D93}" dt="2026-01-26T03:32:12.378" v="1095" actId="1076"/>
          <ac:picMkLst>
            <pc:docMk/>
            <pc:sldMk cId="1242786828" sldId="259"/>
            <ac:picMk id="4" creationId="{665A6E00-A2E0-63AE-8C27-5C67A3119808}"/>
          </ac:picMkLst>
        </pc:picChg>
      </pc:sldChg>
      <pc:sldChg chg="modSp mod ord setBg">
        <pc:chgData name="Janvi Mehendale" userId="483805976292d47c" providerId="LiveId" clId="{2847D5CC-4627-4276-8097-894459CF8D93}" dt="2026-02-06T01:19:16.919" v="2468" actId="20577"/>
        <pc:sldMkLst>
          <pc:docMk/>
          <pc:sldMk cId="1481479466" sldId="262"/>
        </pc:sldMkLst>
        <pc:spChg chg="mod">
          <ac:chgData name="Janvi Mehendale" userId="483805976292d47c" providerId="LiveId" clId="{2847D5CC-4627-4276-8097-894459CF8D93}" dt="2026-02-06T01:17:50.061" v="2379" actId="20577"/>
          <ac:spMkLst>
            <pc:docMk/>
            <pc:sldMk cId="1481479466" sldId="262"/>
            <ac:spMk id="2" creationId="{E692D46B-10EB-1AAA-6A18-AD8A5B18261D}"/>
          </ac:spMkLst>
        </pc:spChg>
        <pc:spChg chg="mod">
          <ac:chgData name="Janvi Mehendale" userId="483805976292d47c" providerId="LiveId" clId="{2847D5CC-4627-4276-8097-894459CF8D93}" dt="2026-02-06T01:19:16.919" v="2468" actId="20577"/>
          <ac:spMkLst>
            <pc:docMk/>
            <pc:sldMk cId="1481479466" sldId="262"/>
            <ac:spMk id="3" creationId="{CAA6C96E-C047-9A09-7D6D-E44B5E09605C}"/>
          </ac:spMkLst>
        </pc:spChg>
      </pc:sldChg>
      <pc:sldChg chg="addSp delSp modSp add mod ord">
        <pc:chgData name="Janvi Mehendale" userId="483805976292d47c" providerId="LiveId" clId="{2847D5CC-4627-4276-8097-894459CF8D93}" dt="2026-01-26T03:31:38.999" v="1094" actId="20577"/>
        <pc:sldMkLst>
          <pc:docMk/>
          <pc:sldMk cId="3958844742" sldId="263"/>
        </pc:sldMkLst>
        <pc:spChg chg="mod">
          <ac:chgData name="Janvi Mehendale" userId="483805976292d47c" providerId="LiveId" clId="{2847D5CC-4627-4276-8097-894459CF8D93}" dt="2026-01-26T03:31:38.999" v="1094" actId="20577"/>
          <ac:spMkLst>
            <pc:docMk/>
            <pc:sldMk cId="3958844742" sldId="263"/>
            <ac:spMk id="2" creationId="{6D195BCF-E14D-E80E-86E0-360E9E3483B4}"/>
          </ac:spMkLst>
        </pc:spChg>
        <pc:picChg chg="mod">
          <ac:chgData name="Janvi Mehendale" userId="483805976292d47c" providerId="LiveId" clId="{2847D5CC-4627-4276-8097-894459CF8D93}" dt="2026-01-26T03:26:39.212" v="812" actId="1076"/>
          <ac:picMkLst>
            <pc:docMk/>
            <pc:sldMk cId="3958844742" sldId="263"/>
            <ac:picMk id="4" creationId="{4B407390-BBF3-AF7C-F7DC-BFBA6456E23C}"/>
          </ac:picMkLst>
        </pc:picChg>
        <pc:picChg chg="add mod">
          <ac:chgData name="Janvi Mehendale" userId="483805976292d47c" providerId="LiveId" clId="{2847D5CC-4627-4276-8097-894459CF8D93}" dt="2026-01-26T03:28:05.555" v="964" actId="14100"/>
          <ac:picMkLst>
            <pc:docMk/>
            <pc:sldMk cId="3958844742" sldId="263"/>
            <ac:picMk id="14" creationId="{7B044DA5-3C29-D1B7-C01D-2C37B1A636D5}"/>
          </ac:picMkLst>
        </pc:picChg>
        <pc:picChg chg="add mod">
          <ac:chgData name="Janvi Mehendale" userId="483805976292d47c" providerId="LiveId" clId="{2847D5CC-4627-4276-8097-894459CF8D93}" dt="2026-01-26T03:28:07.847" v="965" actId="14100"/>
          <ac:picMkLst>
            <pc:docMk/>
            <pc:sldMk cId="3958844742" sldId="263"/>
            <ac:picMk id="16" creationId="{97C48D11-CFB5-E284-24EE-5D381B3B4C5B}"/>
          </ac:picMkLst>
        </pc:picChg>
      </pc:sldChg>
      <pc:sldChg chg="addSp delSp modSp add mod">
        <pc:chgData name="Janvi Mehendale" userId="483805976292d47c" providerId="LiveId" clId="{2847D5CC-4627-4276-8097-894459CF8D93}" dt="2026-02-06T01:22:09.998" v="2472" actId="20577"/>
        <pc:sldMkLst>
          <pc:docMk/>
          <pc:sldMk cId="1356179111" sldId="264"/>
        </pc:sldMkLst>
        <pc:spChg chg="mod">
          <ac:chgData name="Janvi Mehendale" userId="483805976292d47c" providerId="LiveId" clId="{2847D5CC-4627-4276-8097-894459CF8D93}" dt="2026-02-06T01:22:09.998" v="2472" actId="20577"/>
          <ac:spMkLst>
            <pc:docMk/>
            <pc:sldMk cId="1356179111" sldId="264"/>
            <ac:spMk id="2" creationId="{2BAD9449-C3BA-96DA-6711-646D2D69268A}"/>
          </ac:spMkLst>
        </pc:spChg>
        <pc:picChg chg="add mod">
          <ac:chgData name="Janvi Mehendale" userId="483805976292d47c" providerId="LiveId" clId="{2847D5CC-4627-4276-8097-894459CF8D93}" dt="2026-01-26T21:23:11.943" v="1515" actId="14100"/>
          <ac:picMkLst>
            <pc:docMk/>
            <pc:sldMk cId="1356179111" sldId="264"/>
            <ac:picMk id="5" creationId="{F94A40F2-8FED-9505-23D1-0E793304EC1C}"/>
          </ac:picMkLst>
        </pc:picChg>
      </pc:sldChg>
      <pc:sldChg chg="addSp delSp modSp add mod">
        <pc:chgData name="Janvi Mehendale" userId="483805976292d47c" providerId="LiveId" clId="{2847D5CC-4627-4276-8097-894459CF8D93}" dt="2026-01-26T21:23:26.534" v="1518" actId="1076"/>
        <pc:sldMkLst>
          <pc:docMk/>
          <pc:sldMk cId="2133941241" sldId="265"/>
        </pc:sldMkLst>
        <pc:spChg chg="mod">
          <ac:chgData name="Janvi Mehendale" userId="483805976292d47c" providerId="LiveId" clId="{2847D5CC-4627-4276-8097-894459CF8D93}" dt="2026-01-26T21:23:23.234" v="1517" actId="14100"/>
          <ac:spMkLst>
            <pc:docMk/>
            <pc:sldMk cId="2133941241" sldId="265"/>
            <ac:spMk id="2" creationId="{8669EF02-D1D5-EC67-2AA7-9364F47EF089}"/>
          </ac:spMkLst>
        </pc:spChg>
        <pc:picChg chg="mod">
          <ac:chgData name="Janvi Mehendale" userId="483805976292d47c" providerId="LiveId" clId="{2847D5CC-4627-4276-8097-894459CF8D93}" dt="2026-01-26T21:23:26.534" v="1518" actId="1076"/>
          <ac:picMkLst>
            <pc:docMk/>
            <pc:sldMk cId="2133941241" sldId="265"/>
            <ac:picMk id="4" creationId="{796B053F-775D-BE85-FF91-27E774304AC4}"/>
          </ac:picMkLst>
        </pc:picChg>
        <pc:picChg chg="add mod ord">
          <ac:chgData name="Janvi Mehendale" userId="483805976292d47c" providerId="LiveId" clId="{2847D5CC-4627-4276-8097-894459CF8D93}" dt="2026-01-26T21:12:17.646" v="1219" actId="14100"/>
          <ac:picMkLst>
            <pc:docMk/>
            <pc:sldMk cId="2133941241" sldId="265"/>
            <ac:picMk id="6" creationId="{92A85024-B0B0-F717-7457-C4E160372C31}"/>
          </ac:picMkLst>
        </pc:picChg>
      </pc:sldChg>
      <pc:sldChg chg="addSp delSp modSp add mod">
        <pc:chgData name="Janvi Mehendale" userId="483805976292d47c" providerId="LiveId" clId="{2847D5CC-4627-4276-8097-894459CF8D93}" dt="2026-01-26T21:22:37.112" v="1511" actId="255"/>
        <pc:sldMkLst>
          <pc:docMk/>
          <pc:sldMk cId="2107142464" sldId="266"/>
        </pc:sldMkLst>
        <pc:spChg chg="mod">
          <ac:chgData name="Janvi Mehendale" userId="483805976292d47c" providerId="LiveId" clId="{2847D5CC-4627-4276-8097-894459CF8D93}" dt="2026-01-26T21:22:37.112" v="1511" actId="255"/>
          <ac:spMkLst>
            <pc:docMk/>
            <pc:sldMk cId="2107142464" sldId="266"/>
            <ac:spMk id="2" creationId="{8ACB0F09-088D-FDD4-E91D-36BAEC77C160}"/>
          </ac:spMkLst>
        </pc:spChg>
        <pc:picChg chg="add mod ord">
          <ac:chgData name="Janvi Mehendale" userId="483805976292d47c" providerId="LiveId" clId="{2847D5CC-4627-4276-8097-894459CF8D93}" dt="2026-01-26T21:21:39.564" v="1368" actId="14100"/>
          <ac:picMkLst>
            <pc:docMk/>
            <pc:sldMk cId="2107142464" sldId="266"/>
            <ac:picMk id="6" creationId="{D4866423-3156-EF15-1547-47F736B37DE9}"/>
          </ac:picMkLst>
        </pc:picChg>
      </pc:sldChg>
      <pc:sldChg chg="addSp delSp modSp add mod">
        <pc:chgData name="Janvi Mehendale" userId="483805976292d47c" providerId="LiveId" clId="{2847D5CC-4627-4276-8097-894459CF8D93}" dt="2026-01-26T22:02:46.671" v="1854" actId="14100"/>
        <pc:sldMkLst>
          <pc:docMk/>
          <pc:sldMk cId="2930223530" sldId="267"/>
        </pc:sldMkLst>
        <pc:spChg chg="mod">
          <ac:chgData name="Janvi Mehendale" userId="483805976292d47c" providerId="LiveId" clId="{2847D5CC-4627-4276-8097-894459CF8D93}" dt="2026-01-26T22:02:42.721" v="1853" actId="14100"/>
          <ac:spMkLst>
            <pc:docMk/>
            <pc:sldMk cId="2930223530" sldId="267"/>
            <ac:spMk id="2" creationId="{326D342F-13AC-A031-513C-8308AD4BCCB2}"/>
          </ac:spMkLst>
        </pc:spChg>
        <pc:picChg chg="mod">
          <ac:chgData name="Janvi Mehendale" userId="483805976292d47c" providerId="LiveId" clId="{2847D5CC-4627-4276-8097-894459CF8D93}" dt="2026-01-26T22:02:23.299" v="1851" actId="1076"/>
          <ac:picMkLst>
            <pc:docMk/>
            <pc:sldMk cId="2930223530" sldId="267"/>
            <ac:picMk id="4" creationId="{58DCC2BC-C44B-1E8A-56BB-F21A4905A2FC}"/>
          </ac:picMkLst>
        </pc:picChg>
        <pc:picChg chg="add mod ord">
          <ac:chgData name="Janvi Mehendale" userId="483805976292d47c" providerId="LiveId" clId="{2847D5CC-4627-4276-8097-894459CF8D93}" dt="2026-01-26T22:02:46.671" v="1854" actId="14100"/>
          <ac:picMkLst>
            <pc:docMk/>
            <pc:sldMk cId="2930223530" sldId="267"/>
            <ac:picMk id="6" creationId="{DD808545-E225-CD2D-5813-A99AB76A2B19}"/>
          </ac:picMkLst>
        </pc:picChg>
      </pc:sldChg>
      <pc:sldChg chg="modSp add mod">
        <pc:chgData name="Janvi Mehendale" userId="483805976292d47c" providerId="LiveId" clId="{2847D5CC-4627-4276-8097-894459CF8D93}" dt="2026-01-26T22:09:21.781" v="2308" actId="255"/>
        <pc:sldMkLst>
          <pc:docMk/>
          <pc:sldMk cId="2781359195" sldId="268"/>
        </pc:sldMkLst>
        <pc:spChg chg="mod">
          <ac:chgData name="Janvi Mehendale" userId="483805976292d47c" providerId="LiveId" clId="{2847D5CC-4627-4276-8097-894459CF8D93}" dt="2026-01-26T22:09:21.781" v="2308" actId="255"/>
          <ac:spMkLst>
            <pc:docMk/>
            <pc:sldMk cId="2781359195" sldId="268"/>
            <ac:spMk id="2" creationId="{1EFD18E0-077B-CC90-7B45-2812A42544B3}"/>
          </ac:spMkLst>
        </pc:spChg>
        <pc:spChg chg="mod">
          <ac:chgData name="Janvi Mehendale" userId="483805976292d47c" providerId="LiveId" clId="{2847D5CC-4627-4276-8097-894459CF8D93}" dt="2026-01-26T22:09:04.878" v="2307" actId="20577"/>
          <ac:spMkLst>
            <pc:docMk/>
            <pc:sldMk cId="2781359195" sldId="268"/>
            <ac:spMk id="3" creationId="{CF52E722-04DA-938E-FFFB-03E3B1069530}"/>
          </ac:spMkLst>
        </pc:spChg>
      </pc:sldChg>
      <pc:sldChg chg="modSp add mod">
        <pc:chgData name="Janvi Mehendale" userId="483805976292d47c" providerId="LiveId" clId="{2847D5CC-4627-4276-8097-894459CF8D93}" dt="2026-02-06T01:16:14.942" v="2314" actId="6549"/>
        <pc:sldMkLst>
          <pc:docMk/>
          <pc:sldMk cId="2655668239" sldId="269"/>
        </pc:sldMkLst>
        <pc:spChg chg="mod">
          <ac:chgData name="Janvi Mehendale" userId="483805976292d47c" providerId="LiveId" clId="{2847D5CC-4627-4276-8097-894459CF8D93}" dt="2026-02-06T01:16:14.942" v="2314" actId="6549"/>
          <ac:spMkLst>
            <pc:docMk/>
            <pc:sldMk cId="2655668239" sldId="269"/>
            <ac:spMk id="3" creationId="{40573A43-FC87-E86B-AF9A-579F184BDAAB}"/>
          </ac:spMkLst>
        </pc:spChg>
      </pc:sldChg>
      <pc:sldChg chg="modSp add mod">
        <pc:chgData name="Janvi Mehendale" userId="483805976292d47c" providerId="LiveId" clId="{2847D5CC-4627-4276-8097-894459CF8D93}" dt="2026-02-06T01:19:27.936" v="2469" actId="6549"/>
        <pc:sldMkLst>
          <pc:docMk/>
          <pc:sldMk cId="3185299026" sldId="270"/>
        </pc:sldMkLst>
        <pc:spChg chg="mod">
          <ac:chgData name="Janvi Mehendale" userId="483805976292d47c" providerId="LiveId" clId="{2847D5CC-4627-4276-8097-894459CF8D93}" dt="2026-02-06T01:19:27.936" v="2469" actId="6549"/>
          <ac:spMkLst>
            <pc:docMk/>
            <pc:sldMk cId="3185299026" sldId="270"/>
            <ac:spMk id="3" creationId="{73C9EA30-72C0-B47A-C654-C0A4F8779A42}"/>
          </ac:spMkLst>
        </pc:spChg>
      </pc:sldChg>
    </pc:docChg>
  </pc:docChgLst>
</pc:chgInfo>
</file>

<file path=ppt/comments/modernComment_10A_7D987140.xml><?xml version="1.0" encoding="utf-8"?>
<p188:cmLst xmlns:a="http://schemas.openxmlformats.org/drawingml/2006/main" xmlns:r="http://schemas.openxmlformats.org/officeDocument/2006/relationships" xmlns:p188="http://schemas.microsoft.com/office/powerpoint/2018/8/main">
  <p188:cm id="{0E15B335-A879-49A8-A0A6-892D851FB35F}" authorId="{87E41324-59B0-3F1C-D906-0FB869D00C1F}" created="2026-02-06T01:25:53.848">
    <pc:sldMkLst xmlns:pc="http://schemas.microsoft.com/office/powerpoint/2013/main/command">
      <pc:docMk/>
      <pc:sldMk cId="2107142464" sldId="266"/>
    </pc:sldMkLst>
    <p188:txBody>
      <a:bodyPr/>
      <a:lstStyle/>
      <a:p>
        <a:r>
          <a:rPr lang="en-US"/>
          <a:t>Try to find out the co-relation of this this with other groups as well. </a:t>
        </a:r>
      </a:p>
    </p188:txBody>
  </p188:cm>
</p188:cmLst>
</file>

<file path=ppt/comments/modernComment_10B_AEA7A9AA.xml><?xml version="1.0" encoding="utf-8"?>
<p188:cmLst xmlns:a="http://schemas.openxmlformats.org/drawingml/2006/main" xmlns:r="http://schemas.openxmlformats.org/officeDocument/2006/relationships" xmlns:p188="http://schemas.microsoft.com/office/powerpoint/2018/8/main">
  <p188:cm id="{6143CD48-1C13-4FCA-A097-FC5087D8FC67}" authorId="{87E41324-59B0-3F1C-D906-0FB869D00C1F}" created="2026-02-06T01:26:35.235">
    <pc:sldMkLst xmlns:pc="http://schemas.microsoft.com/office/powerpoint/2013/main/command">
      <pc:docMk/>
      <pc:sldMk cId="2930223530" sldId="267"/>
    </pc:sldMkLst>
    <p188:txBody>
      <a:bodyPr/>
      <a:lstStyle/>
      <a:p>
        <a:r>
          <a:rPr lang="en-US"/>
          <a:t>Find out the population of different races and put in the % per capita population.</a:t>
        </a:r>
      </a:p>
    </p188:txBody>
  </p188:cm>
  <p188:cm id="{B4A1CE92-2695-453B-8A54-81ACE2A16411}" authorId="{87E41324-59B0-3F1C-D906-0FB869D00C1F}" created="2026-02-06T01:30:29.079">
    <pc:sldMkLst xmlns:pc="http://schemas.microsoft.com/office/powerpoint/2013/main/command">
      <pc:docMk/>
      <pc:sldMk cId="2930223530" sldId="267"/>
    </pc:sldMkLst>
    <p188:txBody>
      <a:bodyPr/>
      <a:lstStyle/>
      <a:p>
        <a:r>
          <a:rPr lang="en-US"/>
          <a:t>Formatting in all the visuals. 
Remove “YEAR” if showing just year. Rename the legend, and axis descriptions.</a:t>
        </a:r>
      </a:p>
    </p188:txBody>
  </p188:cm>
</p188:cmLst>
</file>

<file path=ppt/comments/modernComment_10C_A5C82C5B.xml><?xml version="1.0" encoding="utf-8"?>
<p188:cmLst xmlns:a="http://schemas.openxmlformats.org/drawingml/2006/main" xmlns:r="http://schemas.openxmlformats.org/officeDocument/2006/relationships" xmlns:p188="http://schemas.microsoft.com/office/powerpoint/2018/8/main">
  <p188:cm id="{9F743837-317D-4E8A-93F3-A3829D75CFF2}" authorId="{87E41324-59B0-3F1C-D906-0FB869D00C1F}" created="2026-02-06T01:27:36.486">
    <pc:sldMkLst xmlns:pc="http://schemas.microsoft.com/office/powerpoint/2013/main/command">
      <pc:docMk/>
      <pc:sldMk cId="2781359195" sldId="268"/>
    </pc:sldMkLst>
    <p188:txBody>
      <a:bodyPr/>
      <a:lstStyle/>
      <a:p>
        <a:r>
          <a:rPr lang="en-US"/>
          <a:t>Budget and spending on autism awareness program and also the money spent on the services. How it all changed.</a:t>
        </a:r>
      </a:p>
    </p188:txBody>
  </p188:cm>
  <p188:cm id="{C3469655-C70F-483D-9529-2CBBB8654ED3}" authorId="{87E41324-59B0-3F1C-D906-0FB869D00C1F}" created="2026-02-06T01:28:56.070">
    <pc:sldMkLst xmlns:pc="http://schemas.microsoft.com/office/powerpoint/2013/main/command">
      <pc:docMk/>
      <pc:sldMk cId="2781359195" sldId="268"/>
    </pc:sldMkLst>
    <p188:txBody>
      <a:bodyPr/>
      <a:lstStyle/>
      <a:p>
        <a:r>
          <a:rPr lang="en-US"/>
          <a:t>Try to answer as many questions. Find more data and tie it up with everything. Ask as many as
WHYYYYYY??? As you can.</a:t>
        </a:r>
      </a:p>
    </p188:txBody>
  </p188:cm>
</p188:cmLst>
</file>

<file path=ppt/comments/modernComment_107_EBF72D46.xml><?xml version="1.0" encoding="utf-8"?>
<p188:cmLst xmlns:a="http://schemas.openxmlformats.org/drawingml/2006/main" xmlns:r="http://schemas.openxmlformats.org/officeDocument/2006/relationships" xmlns:p188="http://schemas.microsoft.com/office/powerpoint/2018/8/main">
  <p188:cm id="{9489A4FC-346D-477A-8097-5474B38265E4}" authorId="{87E41324-59B0-3F1C-D906-0FB869D00C1F}" created="2026-02-06T01:21:59.486">
    <ac:deMkLst xmlns:ac="http://schemas.microsoft.com/office/drawing/2013/main/command">
      <pc:docMk xmlns:pc="http://schemas.microsoft.com/office/powerpoint/2013/main/command"/>
      <pc:sldMk xmlns:pc="http://schemas.microsoft.com/office/powerpoint/2013/main/command" cId="3958844742" sldId="263"/>
      <ac:spMk id="2" creationId="{6D195BCF-E14D-E80E-86E0-360E9E3483B4}"/>
    </ac:deMkLst>
    <p188:txBody>
      <a:bodyPr/>
      <a:lstStyle/>
      <a:p>
        <a:r>
          <a:rPr lang="en-US"/>
          <a:t>Export the image as big as possible and then paste and REDO the visuals so they are clearer.</a:t>
        </a:r>
      </a:p>
    </p188:txBody>
  </p188:cm>
</p188:cmLst>
</file>

<file path=ppt/comments/modernComment_108_50D5A6A7.xml><?xml version="1.0" encoding="utf-8"?>
<p188:cmLst xmlns:a="http://schemas.openxmlformats.org/drawingml/2006/main" xmlns:r="http://schemas.openxmlformats.org/officeDocument/2006/relationships" xmlns:p188="http://schemas.microsoft.com/office/powerpoint/2018/8/main">
  <p188:cm id="{990A9A32-127E-454F-8E6A-8814986EACFD}" authorId="{87E41324-59B0-3F1C-D906-0FB869D00C1F}" created="2026-02-06T01:23:35.153">
    <pc:sldMkLst xmlns:pc="http://schemas.microsoft.com/office/powerpoint/2013/main/command">
      <pc:docMk/>
      <pc:sldMk cId="1356179111" sldId="264"/>
    </pc:sldMkLst>
    <p188:replyLst>
      <p188:reply id="{5A22F3F1-0473-4308-9C10-18682E08F740}" authorId="{87E41324-59B0-3F1C-D906-0FB869D00C1F}" created="2026-02-06T01:35:29.557">
        <p188:txBody>
          <a:bodyPr/>
          <a:lstStyle/>
          <a:p>
            <a:r>
              <a:rPr lang="en-US"/>
              <a:t>Filter the states to show the count. Filter out “Total” from the list.</a:t>
            </a:r>
          </a:p>
        </p188:txBody>
      </p188:reply>
    </p188:replyLst>
    <p188:txBody>
      <a:bodyPr/>
      <a:lstStyle/>
      <a:p>
        <a:r>
          <a:rPr lang="en-US"/>
          <a:t>Use HEATmap instead of this map so the case count in states are better visible. Exclude Hawaaii and just show one for all th states and the overlay data for Hawaii.</a:t>
        </a:r>
      </a:p>
    </p188:txBody>
  </p188:cm>
</p188:cmLst>
</file>

<file path=ppt/comments/modernComment_109_7F315BF9.xml><?xml version="1.0" encoding="utf-8"?>
<p188:cmLst xmlns:a="http://schemas.openxmlformats.org/drawingml/2006/main" xmlns:r="http://schemas.openxmlformats.org/officeDocument/2006/relationships" xmlns:p188="http://schemas.microsoft.com/office/powerpoint/2018/8/main">
  <p188:cm id="{73C340D7-9A75-46BF-AA6F-1B58C0DF8405}" authorId="{87E41324-59B0-3F1C-D906-0FB869D00C1F}" created="2026-02-06T01:24:41.502">
    <pc:sldMkLst xmlns:pc="http://schemas.microsoft.com/office/powerpoint/2013/main/command">
      <pc:docMk/>
      <pc:sldMk cId="2133941241" sldId="265"/>
    </pc:sldMkLst>
    <p188:replyLst>
      <p188:reply id="{54DF019A-B6E5-42A2-BBA3-7D900E1BF4BF}" authorId="{87E41324-59B0-3F1C-D906-0FB869D00C1F}" created="2026-02-06T01:36:19.421">
        <p188:txBody>
          <a:bodyPr/>
          <a:lstStyle/>
          <a:p>
            <a:r>
              <a:rPr lang="en-US"/>
              <a:t>May be, check the total population on which the study was conducted and answer WHY</a:t>
            </a:r>
          </a:p>
        </p188:txBody>
      </p188:reply>
    </p188:replyLst>
    <p188:txBody>
      <a:bodyPr/>
      <a:lstStyle/>
      <a:p>
        <a:r>
          <a:rPr lang="en-US"/>
          <a:t>Find out the reason for the trend, analyze and provide insights.</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F342-7CAD-D733-4D18-CD3F05BA60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1E9130-B3A7-21CD-622C-FA8ED56222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B93B02-8DAD-2894-0246-5097662B957B}"/>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5" name="Footer Placeholder 4">
            <a:extLst>
              <a:ext uri="{FF2B5EF4-FFF2-40B4-BE49-F238E27FC236}">
                <a16:creationId xmlns:a16="http://schemas.microsoft.com/office/drawing/2014/main" id="{2EE14D9B-9C1B-AA88-2F51-95BB616C50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1FD0D-A760-3AAF-406D-4E403B0637F1}"/>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2311928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B421B-9EA6-3CA6-7EBF-36EDA7ABC9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1C9E0-F7BE-A435-50CD-EBB87E5D86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ADBCA0-8DBB-9810-0704-22AE7F6F4D8E}"/>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5" name="Footer Placeholder 4">
            <a:extLst>
              <a:ext uri="{FF2B5EF4-FFF2-40B4-BE49-F238E27FC236}">
                <a16:creationId xmlns:a16="http://schemas.microsoft.com/office/drawing/2014/main" id="{5077023E-1F3B-D90F-C154-256912518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574C6-5AC1-A558-E7E2-1906001392CD}"/>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538862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B7834-A34F-72FE-6422-C4F0DBB186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BAA8AD-28D1-8C56-2B29-FC7FF86822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3FA307-669A-DD3B-CFB5-88511412A172}"/>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5" name="Footer Placeholder 4">
            <a:extLst>
              <a:ext uri="{FF2B5EF4-FFF2-40B4-BE49-F238E27FC236}">
                <a16:creationId xmlns:a16="http://schemas.microsoft.com/office/drawing/2014/main" id="{4A344DDA-F3CD-F1F8-C5F4-E929BDA995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C1B256-D5FC-3B7B-BD06-8BAA14349A55}"/>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2650309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C3B3-9BFC-3A1A-E86A-871A919EFE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2B1DF3-276A-7451-8F9E-C4E44EB60D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8A5202-D962-82B9-8F23-68AD269F2D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DCA44D-930C-9654-06F8-09234354D72D}"/>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6" name="Footer Placeholder 5">
            <a:extLst>
              <a:ext uri="{FF2B5EF4-FFF2-40B4-BE49-F238E27FC236}">
                <a16:creationId xmlns:a16="http://schemas.microsoft.com/office/drawing/2014/main" id="{3F2E25A1-F9AF-7CF3-45FE-35892EA8EF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EC7CE-F6FC-A7C8-0B39-7AAF425FE046}"/>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216342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56630-4792-D4D6-6197-3858DF2CD9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CC3350-B19D-A4FA-FD14-84F43351D8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A80BB3-5D71-B5BC-6F5D-75F5083E1F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8052D3-2A05-EDE4-8375-5D17E2BB6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352B63-23AE-7F53-277E-F20B977ACC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6E8407-7488-29B1-BB7E-3CBF2273C2B5}"/>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8" name="Footer Placeholder 7">
            <a:extLst>
              <a:ext uri="{FF2B5EF4-FFF2-40B4-BE49-F238E27FC236}">
                <a16:creationId xmlns:a16="http://schemas.microsoft.com/office/drawing/2014/main" id="{DBC5318C-FFB4-8EF1-4BBC-AD3D527D5A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5474C0-83C7-2202-6B8C-0D1AA6692F27}"/>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57858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48D90-4CAE-9F35-1C83-74D71E8C31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ADDF05-6CC4-38B3-FF5A-6E613A4F6A4A}"/>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4" name="Footer Placeholder 3">
            <a:extLst>
              <a:ext uri="{FF2B5EF4-FFF2-40B4-BE49-F238E27FC236}">
                <a16:creationId xmlns:a16="http://schemas.microsoft.com/office/drawing/2014/main" id="{977D391A-77E3-3535-F32A-09AD286EE6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5F8736-E103-5F7B-43A1-D6BC4CA5EA54}"/>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2161439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4F50A-D6E7-80FD-D5B0-6BCDA4C2A2F4}"/>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3" name="Footer Placeholder 2">
            <a:extLst>
              <a:ext uri="{FF2B5EF4-FFF2-40B4-BE49-F238E27FC236}">
                <a16:creationId xmlns:a16="http://schemas.microsoft.com/office/drawing/2014/main" id="{6D4EEF6A-1C70-1F47-D8AE-5421EC475F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B0D7B9-E074-5275-A8EB-42BD863ECAE8}"/>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2063991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3A69F-FE69-578D-13D2-69E181DE6F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8A8F06-33E3-8F2C-C453-5A427C5878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B0DD1B-C8B3-5685-CDC9-9AF946B5DE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BF6D8C-0CD5-547E-0AF9-D31AA2CE52BD}"/>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6" name="Footer Placeholder 5">
            <a:extLst>
              <a:ext uri="{FF2B5EF4-FFF2-40B4-BE49-F238E27FC236}">
                <a16:creationId xmlns:a16="http://schemas.microsoft.com/office/drawing/2014/main" id="{E9067611-5557-5450-E489-47E33831B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65FBEA-10CB-CE39-B1DB-59C95A223C0E}"/>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3394623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D8B3-E898-9C64-564F-D86E68D50E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1A506A-47E3-7480-D34D-62E2D2EC5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BE8A41-68E8-001A-A105-89D883F5CA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8C23D9-CD92-F436-59BB-11CBFDB957BE}"/>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6" name="Footer Placeholder 5">
            <a:extLst>
              <a:ext uri="{FF2B5EF4-FFF2-40B4-BE49-F238E27FC236}">
                <a16:creationId xmlns:a16="http://schemas.microsoft.com/office/drawing/2014/main" id="{8B4DD057-1A86-8DDB-6357-9FB54B1F32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9C081-0ABA-CEDD-86AF-2BE4D8D2A8F9}"/>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2174076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9CE3D-1547-28C9-6365-5B83CA2665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F8EE9E-BA4D-760C-90AB-029F234E9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D2959-8B4F-EF25-E149-394319B2CD38}"/>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5" name="Footer Placeholder 4">
            <a:extLst>
              <a:ext uri="{FF2B5EF4-FFF2-40B4-BE49-F238E27FC236}">
                <a16:creationId xmlns:a16="http://schemas.microsoft.com/office/drawing/2014/main" id="{1668CBD6-7EFD-E5F1-77DE-30BFD2D88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78F77-797C-21D6-FF20-E1150B5478C9}"/>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4005433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401BC5-5A9E-5FED-10DB-E66ACE9951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F0ED54-CB43-4EEA-4F11-C120ABD2FC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B8479E-F97D-25FB-BAB5-A537E412D856}"/>
              </a:ext>
            </a:extLst>
          </p:cNvPr>
          <p:cNvSpPr>
            <a:spLocks noGrp="1"/>
          </p:cNvSpPr>
          <p:nvPr>
            <p:ph type="dt" sz="half" idx="10"/>
          </p:nvPr>
        </p:nvSpPr>
        <p:spPr/>
        <p:txBody>
          <a:bodyPr/>
          <a:lstStyle/>
          <a:p>
            <a:fld id="{8842936D-D168-4C5D-AF92-E82C09DC0CF8}" type="datetimeFigureOut">
              <a:rPr lang="en-US" smtClean="0"/>
              <a:t>2/5/2026</a:t>
            </a:fld>
            <a:endParaRPr lang="en-US"/>
          </a:p>
        </p:txBody>
      </p:sp>
      <p:sp>
        <p:nvSpPr>
          <p:cNvPr id="5" name="Footer Placeholder 4">
            <a:extLst>
              <a:ext uri="{FF2B5EF4-FFF2-40B4-BE49-F238E27FC236}">
                <a16:creationId xmlns:a16="http://schemas.microsoft.com/office/drawing/2014/main" id="{E118FD1F-BCCB-46D9-0658-90F2808E05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BB6DBD-B80A-8D6A-1058-335FF7C8ED4F}"/>
              </a:ext>
            </a:extLst>
          </p:cNvPr>
          <p:cNvSpPr>
            <a:spLocks noGrp="1"/>
          </p:cNvSpPr>
          <p:nvPr>
            <p:ph type="sldNum" sz="quarter" idx="12"/>
          </p:nvPr>
        </p:nvSpPr>
        <p:spPr/>
        <p:txBody>
          <a:bodyPr/>
          <a:lstStyle/>
          <a:p>
            <a:fld id="{0390802F-4684-4DB5-828B-9689399DB055}" type="slidenum">
              <a:rPr lang="en-US" smtClean="0"/>
              <a:t>‹#›</a:t>
            </a:fld>
            <a:endParaRPr lang="en-US"/>
          </a:p>
        </p:txBody>
      </p:sp>
    </p:spTree>
    <p:extLst>
      <p:ext uri="{BB962C8B-B14F-4D97-AF65-F5344CB8AC3E}">
        <p14:creationId xmlns:p14="http://schemas.microsoft.com/office/powerpoint/2010/main" val="3768232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9500">
              <a:schemeClr val="tx2">
                <a:lumMod val="10000"/>
                <a:lumOff val="90000"/>
              </a:schemeClr>
            </a:gs>
            <a:gs pos="5000">
              <a:schemeClr val="accent3">
                <a:lumMod val="20000"/>
                <a:lumOff val="80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1EE2D1-A757-868B-BF74-B58375AFD0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A391C0-2B9D-E85C-62D8-5284F91D9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384C6E-35C0-71EB-1256-8018B4703E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42936D-D168-4C5D-AF92-E82C09DC0CF8}" type="datetimeFigureOut">
              <a:rPr lang="en-US" smtClean="0"/>
              <a:t>2/5/2026</a:t>
            </a:fld>
            <a:endParaRPr lang="en-US"/>
          </a:p>
        </p:txBody>
      </p:sp>
      <p:sp>
        <p:nvSpPr>
          <p:cNvPr id="5" name="Footer Placeholder 4">
            <a:extLst>
              <a:ext uri="{FF2B5EF4-FFF2-40B4-BE49-F238E27FC236}">
                <a16:creationId xmlns:a16="http://schemas.microsoft.com/office/drawing/2014/main" id="{6B13DA40-9A4C-78C8-4022-01ABAB7F62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ABC69B-8A2A-6689-B582-F926241D5B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90802F-4684-4DB5-828B-9689399DB055}" type="slidenum">
              <a:rPr lang="en-US" smtClean="0"/>
              <a:t>‹#›</a:t>
            </a:fld>
            <a:endParaRPr lang="en-US"/>
          </a:p>
        </p:txBody>
      </p:sp>
    </p:spTree>
    <p:extLst>
      <p:ext uri="{BB962C8B-B14F-4D97-AF65-F5344CB8AC3E}">
        <p14:creationId xmlns:p14="http://schemas.microsoft.com/office/powerpoint/2010/main" val="1515654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utisticnick.com/autism-and-autistic-spectrum-disorders"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7_EBF72D4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8_50D5A6A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9_7F315BF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A_7D98714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0B_AEA7A9AA.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C_A5C82C5B.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9500">
              <a:schemeClr val="tx2">
                <a:lumMod val="85000"/>
                <a:lumOff val="15000"/>
                <a:alpha val="92000"/>
              </a:schemeClr>
            </a:gs>
            <a:gs pos="5000">
              <a:schemeClr val="accent3">
                <a:lumMod val="20000"/>
                <a:lumOff val="80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83A6DED-F6D4-F2D7-F033-311A678AE1E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859" r="1247"/>
          <a:stretch>
            <a:fillRect/>
          </a:stretch>
        </p:blipFill>
        <p:spPr>
          <a:xfrm>
            <a:off x="0" y="10"/>
            <a:ext cx="8621395" cy="6114543"/>
          </a:xfrm>
          <a:prstGeom prst="rect">
            <a:avLst/>
          </a:prstGeom>
        </p:spPr>
      </p:pic>
      <p:sp>
        <p:nvSpPr>
          <p:cNvPr id="12" name="Rectangle 1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5754DC-2236-54EC-F46B-9EF7CC4B24A0}"/>
              </a:ext>
            </a:extLst>
          </p:cNvPr>
          <p:cNvSpPr>
            <a:spLocks noGrp="1"/>
          </p:cNvSpPr>
          <p:nvPr>
            <p:ph type="ctrTitle"/>
          </p:nvPr>
        </p:nvSpPr>
        <p:spPr>
          <a:xfrm>
            <a:off x="7962473" y="743447"/>
            <a:ext cx="3807512" cy="3692028"/>
          </a:xfrm>
          <a:noFill/>
        </p:spPr>
        <p:txBody>
          <a:bodyPr>
            <a:normAutofit/>
          </a:bodyPr>
          <a:lstStyle/>
          <a:p>
            <a:pPr algn="l"/>
            <a:r>
              <a:rPr lang="en-US" sz="5200"/>
              <a:t>ASD Prevalence Analysis</a:t>
            </a:r>
            <a:endParaRPr lang="en-US" sz="5200" dirty="0"/>
          </a:p>
        </p:txBody>
      </p:sp>
      <p:sp>
        <p:nvSpPr>
          <p:cNvPr id="3" name="Subtitle 2">
            <a:extLst>
              <a:ext uri="{FF2B5EF4-FFF2-40B4-BE49-F238E27FC236}">
                <a16:creationId xmlns:a16="http://schemas.microsoft.com/office/drawing/2014/main" id="{94D83A72-ECB7-AF99-D26F-54A8A7694742}"/>
              </a:ext>
            </a:extLst>
          </p:cNvPr>
          <p:cNvSpPr>
            <a:spLocks noGrp="1"/>
          </p:cNvSpPr>
          <p:nvPr>
            <p:ph type="subTitle" idx="1"/>
          </p:nvPr>
        </p:nvSpPr>
        <p:spPr>
          <a:xfrm>
            <a:off x="7962473" y="4629234"/>
            <a:ext cx="3930803" cy="1485319"/>
          </a:xfrm>
          <a:noFill/>
        </p:spPr>
        <p:txBody>
          <a:bodyPr>
            <a:normAutofit/>
          </a:bodyPr>
          <a:lstStyle/>
          <a:p>
            <a:pPr algn="l"/>
            <a:r>
              <a:rPr lang="en-US"/>
              <a:t>By Janvi Mehendale</a:t>
            </a:r>
          </a:p>
          <a:p>
            <a:pPr algn="l"/>
            <a:r>
              <a:rPr lang="en-US"/>
              <a:t>Tools : Excel | SQL | Power BI</a:t>
            </a:r>
            <a:endParaRPr lang="en-US" dirty="0"/>
          </a:p>
        </p:txBody>
      </p:sp>
    </p:spTree>
    <p:extLst>
      <p:ext uri="{BB962C8B-B14F-4D97-AF65-F5344CB8AC3E}">
        <p14:creationId xmlns:p14="http://schemas.microsoft.com/office/powerpoint/2010/main" val="495934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39500">
              <a:schemeClr val="tx2">
                <a:lumMod val="10000"/>
                <a:lumOff val="90000"/>
              </a:schemeClr>
            </a:gs>
            <a:gs pos="5000">
              <a:schemeClr val="accent3">
                <a:lumMod val="20000"/>
                <a:lumOff val="80000"/>
              </a:schemeClr>
            </a:gs>
            <a:gs pos="74000">
              <a:schemeClr val="accent4">
                <a:lumMod val="45000"/>
                <a:lumOff val="55000"/>
              </a:schemeClr>
            </a:gs>
            <a:gs pos="91500">
              <a:srgbClr val="9CDFF8"/>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DEA3396F-FC96-7055-3316-E70AD17CA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2D46B-10EB-1AAA-6A18-AD8A5B18261D}"/>
              </a:ext>
            </a:extLst>
          </p:cNvPr>
          <p:cNvSpPr>
            <a:spLocks noGrp="1"/>
          </p:cNvSpPr>
          <p:nvPr>
            <p:ph type="title"/>
          </p:nvPr>
        </p:nvSpPr>
        <p:spPr>
          <a:xfrm>
            <a:off x="838200" y="365125"/>
            <a:ext cx="9476678" cy="1325563"/>
          </a:xfrm>
        </p:spPr>
        <p:txBody>
          <a:bodyPr/>
          <a:lstStyle/>
          <a:p>
            <a:r>
              <a:rPr lang="en-US" dirty="0"/>
              <a:t>Abbreviations</a:t>
            </a:r>
          </a:p>
        </p:txBody>
      </p:sp>
      <p:sp>
        <p:nvSpPr>
          <p:cNvPr id="3" name="Content Placeholder 2">
            <a:extLst>
              <a:ext uri="{FF2B5EF4-FFF2-40B4-BE49-F238E27FC236}">
                <a16:creationId xmlns:a16="http://schemas.microsoft.com/office/drawing/2014/main" id="{CAA6C96E-C047-9A09-7D6D-E44B5E09605C}"/>
              </a:ext>
            </a:extLst>
          </p:cNvPr>
          <p:cNvSpPr>
            <a:spLocks noGrp="1"/>
          </p:cNvSpPr>
          <p:nvPr>
            <p:ph idx="1"/>
          </p:nvPr>
        </p:nvSpPr>
        <p:spPr/>
        <p:txBody>
          <a:bodyPr>
            <a:normAutofit/>
          </a:bodyPr>
          <a:lstStyle/>
          <a:p>
            <a:r>
              <a:rPr lang="en-US" sz="2600" i="1" dirty="0"/>
              <a:t>ASD - Autism Spectrum Disorder </a:t>
            </a:r>
          </a:p>
          <a:p>
            <a:r>
              <a:rPr lang="en-US" sz="2600" i="1" dirty="0"/>
              <a:t>CDC – Centers for Disease Control and Prevention</a:t>
            </a:r>
          </a:p>
          <a:p>
            <a:r>
              <a:rPr lang="en-US" sz="2600" i="1" dirty="0"/>
              <a:t>NIH – National Institute of Health</a:t>
            </a:r>
          </a:p>
        </p:txBody>
      </p:sp>
      <p:pic>
        <p:nvPicPr>
          <p:cNvPr id="4" name="Picture 3">
            <a:extLst>
              <a:ext uri="{FF2B5EF4-FFF2-40B4-BE49-F238E27FC236}">
                <a16:creationId xmlns:a16="http://schemas.microsoft.com/office/drawing/2014/main" id="{BEAE60E9-5916-6917-FCA5-2A09E8FB159A}"/>
              </a:ext>
            </a:extLst>
          </p:cNvPr>
          <p:cNvPicPr>
            <a:picLocks noChangeAspect="1"/>
          </p:cNvPicPr>
          <p:nvPr/>
        </p:nvPicPr>
        <p:blipFill>
          <a:blip r:embed="rId2"/>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1481479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FCCA-5CAF-0999-2E61-1A97616A5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87076-2FC5-E74C-1671-50B23ADF1337}"/>
              </a:ext>
            </a:extLst>
          </p:cNvPr>
          <p:cNvSpPr>
            <a:spLocks noGrp="1"/>
          </p:cNvSpPr>
          <p:nvPr>
            <p:ph type="title"/>
          </p:nvPr>
        </p:nvSpPr>
        <p:spPr>
          <a:xfrm>
            <a:off x="838200" y="237578"/>
            <a:ext cx="9476678" cy="795855"/>
          </a:xfrm>
        </p:spPr>
        <p:txBody>
          <a:bodyPr/>
          <a:lstStyle/>
          <a:p>
            <a:r>
              <a:rPr lang="en-US" dirty="0"/>
              <a:t>Data sources</a:t>
            </a:r>
          </a:p>
        </p:txBody>
      </p:sp>
      <p:sp>
        <p:nvSpPr>
          <p:cNvPr id="3" name="Content Placeholder 2">
            <a:extLst>
              <a:ext uri="{FF2B5EF4-FFF2-40B4-BE49-F238E27FC236}">
                <a16:creationId xmlns:a16="http://schemas.microsoft.com/office/drawing/2014/main" id="{B011DD6D-1FA4-0C75-3F25-5EB33B52571C}"/>
              </a:ext>
            </a:extLst>
          </p:cNvPr>
          <p:cNvSpPr>
            <a:spLocks noGrp="1"/>
          </p:cNvSpPr>
          <p:nvPr>
            <p:ph idx="1"/>
          </p:nvPr>
        </p:nvSpPr>
        <p:spPr>
          <a:xfrm>
            <a:off x="838200" y="1033432"/>
            <a:ext cx="10515600" cy="5586989"/>
          </a:xfrm>
        </p:spPr>
        <p:txBody>
          <a:bodyPr>
            <a:normAutofit lnSpcReduction="10000"/>
          </a:bodyPr>
          <a:lstStyle/>
          <a:p>
            <a:r>
              <a:rPr lang="en-US" sz="2400" dirty="0"/>
              <a:t>NSCH – National Survey of Children’s Health</a:t>
            </a:r>
          </a:p>
          <a:p>
            <a:pPr lvl="1"/>
            <a:r>
              <a:rPr lang="en-US" sz="1800" dirty="0"/>
              <a:t>NSCH is an annual, cross-sectional, address-based survey that collects information on the health and well-being of children ages 0-17 years, and related health care, family, and community-level factors that can influence health.</a:t>
            </a:r>
          </a:p>
          <a:p>
            <a:pPr marL="457200" lvl="1" indent="0">
              <a:buNone/>
            </a:pPr>
            <a:endParaRPr lang="en-US" sz="1800" dirty="0"/>
          </a:p>
          <a:p>
            <a:r>
              <a:rPr lang="en-US" sz="2400" dirty="0"/>
              <a:t>SECC – Special Education Child Count</a:t>
            </a:r>
          </a:p>
          <a:p>
            <a:pPr lvl="1"/>
            <a:r>
              <a:rPr lang="en-US" sz="1800" dirty="0"/>
              <a:t>CDC used special education child count data to report the number of children 6–17 years old with ASD who are receiving special education and related services in each state.</a:t>
            </a:r>
          </a:p>
          <a:p>
            <a:pPr marL="457200" lvl="1" indent="0">
              <a:buNone/>
            </a:pPr>
            <a:endParaRPr lang="en-US" sz="1800" dirty="0"/>
          </a:p>
          <a:p>
            <a:r>
              <a:rPr lang="en-US" sz="2400" dirty="0"/>
              <a:t>Medicaid</a:t>
            </a:r>
          </a:p>
          <a:p>
            <a:pPr lvl="1"/>
            <a:r>
              <a:rPr lang="en-US" sz="1800" dirty="0"/>
              <a:t>CMS data for each state with available data for identified children 3–17 years old who had received Medicaid benefits, were continuously enrolled in Medicaid for at least 89 days, and had at least two outpatient billing codes for ASD or one inpatient billing code in the specified year. Data from 2014 and 2015 were excluded due to data quality issues for diagnosis codes.</a:t>
            </a:r>
          </a:p>
          <a:p>
            <a:pPr marL="457200" lvl="1" indent="0">
              <a:buNone/>
            </a:pPr>
            <a:endParaRPr lang="en-US" sz="1800" dirty="0"/>
          </a:p>
          <a:p>
            <a:r>
              <a:rPr lang="en-US" sz="2400" dirty="0"/>
              <a:t>ADDM – Autism and Developmental Disabilities Network</a:t>
            </a:r>
          </a:p>
          <a:p>
            <a:pPr lvl="1"/>
            <a:r>
              <a:rPr lang="en-US" sz="1800" dirty="0"/>
              <a:t>ADDM Network sites collect data from health and/or education records of 8-year-old children using the same methods across sites. </a:t>
            </a:r>
          </a:p>
          <a:p>
            <a:pPr lvl="1"/>
            <a:endParaRPr lang="en-US" sz="2000" dirty="0"/>
          </a:p>
          <a:p>
            <a:pPr lvl="1"/>
            <a:endParaRPr lang="en-US" sz="1800" dirty="0"/>
          </a:p>
        </p:txBody>
      </p:sp>
      <p:pic>
        <p:nvPicPr>
          <p:cNvPr id="4" name="Picture 3">
            <a:extLst>
              <a:ext uri="{FF2B5EF4-FFF2-40B4-BE49-F238E27FC236}">
                <a16:creationId xmlns:a16="http://schemas.microsoft.com/office/drawing/2014/main" id="{665A6E00-A2E0-63AE-8C27-5C67A3119808}"/>
              </a:ext>
            </a:extLst>
          </p:cNvPr>
          <p:cNvPicPr>
            <a:picLocks noChangeAspect="1"/>
          </p:cNvPicPr>
          <p:nvPr/>
        </p:nvPicPr>
        <p:blipFill>
          <a:blip r:embed="rId2"/>
          <a:stretch>
            <a:fillRect/>
          </a:stretch>
        </p:blipFill>
        <p:spPr>
          <a:xfrm>
            <a:off x="10551225" y="47113"/>
            <a:ext cx="982656" cy="1325563"/>
          </a:xfrm>
          <a:prstGeom prst="rect">
            <a:avLst/>
          </a:prstGeom>
        </p:spPr>
      </p:pic>
    </p:spTree>
    <p:extLst>
      <p:ext uri="{BB962C8B-B14F-4D97-AF65-F5344CB8AC3E}">
        <p14:creationId xmlns:p14="http://schemas.microsoft.com/office/powerpoint/2010/main" val="1242786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39500">
              <a:schemeClr val="tx2">
                <a:lumMod val="10000"/>
                <a:lumOff val="90000"/>
              </a:schemeClr>
            </a:gs>
            <a:gs pos="5000">
              <a:schemeClr val="accent3">
                <a:lumMod val="20000"/>
                <a:lumOff val="80000"/>
              </a:schemeClr>
            </a:gs>
            <a:gs pos="74000">
              <a:schemeClr val="accent4">
                <a:lumMod val="45000"/>
                <a:lumOff val="55000"/>
              </a:schemeClr>
            </a:gs>
            <a:gs pos="91500">
              <a:srgbClr val="9CDFF8"/>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E86480A7-7049-55EA-9754-D9E6C6473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16E66-4880-28ED-74AE-23ADC8C43DA8}"/>
              </a:ext>
            </a:extLst>
          </p:cNvPr>
          <p:cNvSpPr>
            <a:spLocks noGrp="1"/>
          </p:cNvSpPr>
          <p:nvPr>
            <p:ph type="title"/>
          </p:nvPr>
        </p:nvSpPr>
        <p:spPr>
          <a:xfrm>
            <a:off x="838200" y="365125"/>
            <a:ext cx="9476678" cy="1325563"/>
          </a:xfrm>
        </p:spPr>
        <p:txBody>
          <a:bodyPr/>
          <a:lstStyle/>
          <a:p>
            <a:r>
              <a:rPr lang="en-US" dirty="0"/>
              <a:t>Autism Spectrum Disorder</a:t>
            </a:r>
          </a:p>
        </p:txBody>
      </p:sp>
      <p:sp>
        <p:nvSpPr>
          <p:cNvPr id="3" name="Content Placeholder 2">
            <a:extLst>
              <a:ext uri="{FF2B5EF4-FFF2-40B4-BE49-F238E27FC236}">
                <a16:creationId xmlns:a16="http://schemas.microsoft.com/office/drawing/2014/main" id="{73C9EA30-72C0-B47A-C654-C0A4F8779A42}"/>
              </a:ext>
            </a:extLst>
          </p:cNvPr>
          <p:cNvSpPr>
            <a:spLocks noGrp="1"/>
          </p:cNvSpPr>
          <p:nvPr>
            <p:ph idx="1"/>
          </p:nvPr>
        </p:nvSpPr>
        <p:spPr/>
        <p:txBody>
          <a:bodyPr>
            <a:normAutofit/>
          </a:bodyPr>
          <a:lstStyle/>
          <a:p>
            <a:r>
              <a:rPr lang="en-US" sz="2600" i="1" dirty="0"/>
              <a:t>Autism Spectrum Disorder is a neurodivergent condition that affects how an individual learns, communicates, behaves, and processes everything happening around them. Each person experiences it differently depending on their strengths, challenges and the support they get.</a:t>
            </a:r>
          </a:p>
        </p:txBody>
      </p:sp>
      <p:pic>
        <p:nvPicPr>
          <p:cNvPr id="4" name="Picture 3">
            <a:extLst>
              <a:ext uri="{FF2B5EF4-FFF2-40B4-BE49-F238E27FC236}">
                <a16:creationId xmlns:a16="http://schemas.microsoft.com/office/drawing/2014/main" id="{2F9EED41-AB4F-EC4D-6BB1-D3916E5FF34E}"/>
              </a:ext>
            </a:extLst>
          </p:cNvPr>
          <p:cNvPicPr>
            <a:picLocks noChangeAspect="1"/>
          </p:cNvPicPr>
          <p:nvPr/>
        </p:nvPicPr>
        <p:blipFill>
          <a:blip r:embed="rId2"/>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3185299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39500">
              <a:schemeClr val="tx2">
                <a:lumMod val="10000"/>
                <a:lumOff val="90000"/>
              </a:schemeClr>
            </a:gs>
            <a:gs pos="5000">
              <a:schemeClr val="accent3">
                <a:lumMod val="20000"/>
                <a:lumOff val="80000"/>
              </a:schemeClr>
            </a:gs>
            <a:gs pos="74000">
              <a:schemeClr val="accent4">
                <a:lumMod val="45000"/>
                <a:lumOff val="55000"/>
              </a:schemeClr>
            </a:gs>
            <a:gs pos="91500">
              <a:srgbClr val="9CDFF8"/>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E546A3AE-94A6-3832-9683-2D6721662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697FB-CB71-F246-12F8-76D1C283300D}"/>
              </a:ext>
            </a:extLst>
          </p:cNvPr>
          <p:cNvSpPr>
            <a:spLocks noGrp="1"/>
          </p:cNvSpPr>
          <p:nvPr>
            <p:ph type="title"/>
          </p:nvPr>
        </p:nvSpPr>
        <p:spPr>
          <a:xfrm>
            <a:off x="838200" y="365125"/>
            <a:ext cx="9476678" cy="1325563"/>
          </a:xfrm>
        </p:spPr>
        <p:txBody>
          <a:bodyPr/>
          <a:lstStyle/>
          <a:p>
            <a:r>
              <a:rPr lang="en-US" dirty="0"/>
              <a:t>Autism Spectrum Disorder</a:t>
            </a:r>
          </a:p>
        </p:txBody>
      </p:sp>
      <p:sp>
        <p:nvSpPr>
          <p:cNvPr id="3" name="Content Placeholder 2">
            <a:extLst>
              <a:ext uri="{FF2B5EF4-FFF2-40B4-BE49-F238E27FC236}">
                <a16:creationId xmlns:a16="http://schemas.microsoft.com/office/drawing/2014/main" id="{40573A43-FC87-E86B-AF9A-579F184BDAAB}"/>
              </a:ext>
            </a:extLst>
          </p:cNvPr>
          <p:cNvSpPr>
            <a:spLocks noGrp="1"/>
          </p:cNvSpPr>
          <p:nvPr>
            <p:ph idx="1"/>
          </p:nvPr>
        </p:nvSpPr>
        <p:spPr/>
        <p:txBody>
          <a:bodyPr>
            <a:normAutofit/>
          </a:bodyPr>
          <a:lstStyle/>
          <a:p>
            <a:r>
              <a:rPr lang="en-US" sz="2600" i="1" dirty="0"/>
              <a:t>The purpose of the study is to understand the trends associated with the increase in the early identification of ASD. How have autism prevalence rates changed over time and what demographic or geographic conditions correlate with the trend. The project uses publicly available data from CDC, healthdata.gov and NIH. The assumption is the available data is accurate with the challenge that there might be many undiagnosed or unreported cases. </a:t>
            </a:r>
          </a:p>
        </p:txBody>
      </p:sp>
      <p:pic>
        <p:nvPicPr>
          <p:cNvPr id="4" name="Picture 3">
            <a:extLst>
              <a:ext uri="{FF2B5EF4-FFF2-40B4-BE49-F238E27FC236}">
                <a16:creationId xmlns:a16="http://schemas.microsoft.com/office/drawing/2014/main" id="{3652E83F-12D5-FF1C-E57F-5A83952BB9AA}"/>
              </a:ext>
            </a:extLst>
          </p:cNvPr>
          <p:cNvPicPr>
            <a:picLocks noChangeAspect="1"/>
          </p:cNvPicPr>
          <p:nvPr/>
        </p:nvPicPr>
        <p:blipFill>
          <a:blip r:embed="rId2"/>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265566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B53F-A02F-5BCA-752C-C6ADB63BCAE8}"/>
              </a:ext>
            </a:extLst>
          </p:cNvPr>
          <p:cNvSpPr>
            <a:spLocks noGrp="1"/>
          </p:cNvSpPr>
          <p:nvPr>
            <p:ph type="title"/>
          </p:nvPr>
        </p:nvSpPr>
        <p:spPr>
          <a:xfrm>
            <a:off x="838200" y="365125"/>
            <a:ext cx="9476678" cy="1325563"/>
          </a:xfrm>
        </p:spPr>
        <p:txBody>
          <a:bodyPr/>
          <a:lstStyle/>
          <a:p>
            <a:r>
              <a:rPr lang="en-US" dirty="0"/>
              <a:t>Key Insights</a:t>
            </a:r>
          </a:p>
        </p:txBody>
      </p:sp>
      <p:sp>
        <p:nvSpPr>
          <p:cNvPr id="3" name="Content Placeholder 2">
            <a:extLst>
              <a:ext uri="{FF2B5EF4-FFF2-40B4-BE49-F238E27FC236}">
                <a16:creationId xmlns:a16="http://schemas.microsoft.com/office/drawing/2014/main" id="{8187949A-B32A-590E-3F30-C2B69444018D}"/>
              </a:ext>
            </a:extLst>
          </p:cNvPr>
          <p:cNvSpPr>
            <a:spLocks noGrp="1"/>
          </p:cNvSpPr>
          <p:nvPr>
            <p:ph idx="1"/>
          </p:nvPr>
        </p:nvSpPr>
        <p:spPr/>
        <p:txBody>
          <a:bodyPr/>
          <a:lstStyle/>
          <a:p>
            <a:r>
              <a:rPr lang="en-US" i="1" dirty="0"/>
              <a:t>Autism prevalence rates across U.S. states since 2000.</a:t>
            </a:r>
          </a:p>
          <a:p>
            <a:r>
              <a:rPr lang="en-US" i="1" dirty="0"/>
              <a:t>Trends by demographic conditions.</a:t>
            </a:r>
          </a:p>
          <a:p>
            <a:r>
              <a:rPr lang="en-US" i="1" dirty="0"/>
              <a:t>Prevalence based on gender</a:t>
            </a:r>
          </a:p>
          <a:p>
            <a:r>
              <a:rPr lang="en-US" i="1" dirty="0"/>
              <a:t>Rates by Cumulative Incidence from 2018-2022.</a:t>
            </a:r>
          </a:p>
        </p:txBody>
      </p:sp>
      <p:pic>
        <p:nvPicPr>
          <p:cNvPr id="4" name="Picture 3">
            <a:extLst>
              <a:ext uri="{FF2B5EF4-FFF2-40B4-BE49-F238E27FC236}">
                <a16:creationId xmlns:a16="http://schemas.microsoft.com/office/drawing/2014/main" id="{E0512F83-D836-65BB-87DF-72130653C5C8}"/>
              </a:ext>
            </a:extLst>
          </p:cNvPr>
          <p:cNvPicPr>
            <a:picLocks noChangeAspect="1"/>
          </p:cNvPicPr>
          <p:nvPr/>
        </p:nvPicPr>
        <p:blipFill>
          <a:blip r:embed="rId2"/>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1582448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A3D6-8DF2-18D2-0771-0083A1AA2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95BCF-E14D-E80E-86E0-360E9E3483B4}"/>
              </a:ext>
            </a:extLst>
          </p:cNvPr>
          <p:cNvSpPr>
            <a:spLocks noGrp="1"/>
          </p:cNvSpPr>
          <p:nvPr>
            <p:ph type="title"/>
          </p:nvPr>
        </p:nvSpPr>
        <p:spPr>
          <a:xfrm>
            <a:off x="652303" y="365125"/>
            <a:ext cx="10175288" cy="1325563"/>
          </a:xfrm>
        </p:spPr>
        <p:txBody>
          <a:bodyPr>
            <a:normAutofit/>
          </a:bodyPr>
          <a:lstStyle/>
          <a:p>
            <a:r>
              <a:rPr lang="en-US" sz="3200" dirty="0"/>
              <a:t>Based on the available data, USA has the most cases; so, the analysis will be conducted on USA from 2000-2022.</a:t>
            </a:r>
          </a:p>
        </p:txBody>
      </p:sp>
      <p:pic>
        <p:nvPicPr>
          <p:cNvPr id="4" name="Picture 3">
            <a:extLst>
              <a:ext uri="{FF2B5EF4-FFF2-40B4-BE49-F238E27FC236}">
                <a16:creationId xmlns:a16="http://schemas.microsoft.com/office/drawing/2014/main" id="{4B407390-BBF3-AF7C-F7DC-BFBA6456E23C}"/>
              </a:ext>
            </a:extLst>
          </p:cNvPr>
          <p:cNvPicPr>
            <a:picLocks noChangeAspect="1"/>
          </p:cNvPicPr>
          <p:nvPr/>
        </p:nvPicPr>
        <p:blipFill>
          <a:blip r:embed="rId3"/>
          <a:stretch>
            <a:fillRect/>
          </a:stretch>
        </p:blipFill>
        <p:spPr>
          <a:xfrm>
            <a:off x="10827591" y="365124"/>
            <a:ext cx="982656" cy="1325563"/>
          </a:xfrm>
          <a:prstGeom prst="rect">
            <a:avLst/>
          </a:prstGeom>
        </p:spPr>
      </p:pic>
      <p:pic>
        <p:nvPicPr>
          <p:cNvPr id="14" name="Picture 13">
            <a:extLst>
              <a:ext uri="{FF2B5EF4-FFF2-40B4-BE49-F238E27FC236}">
                <a16:creationId xmlns:a16="http://schemas.microsoft.com/office/drawing/2014/main" id="{7B044DA5-3C29-D1B7-C01D-2C37B1A636D5}"/>
              </a:ext>
            </a:extLst>
          </p:cNvPr>
          <p:cNvPicPr>
            <a:picLocks noChangeAspect="1"/>
          </p:cNvPicPr>
          <p:nvPr/>
        </p:nvPicPr>
        <p:blipFill>
          <a:blip r:embed="rId4"/>
          <a:stretch>
            <a:fillRect/>
          </a:stretch>
        </p:blipFill>
        <p:spPr>
          <a:xfrm>
            <a:off x="652302" y="1838449"/>
            <a:ext cx="5443698" cy="4833315"/>
          </a:xfrm>
          <a:prstGeom prst="rect">
            <a:avLst/>
          </a:prstGeom>
        </p:spPr>
      </p:pic>
      <p:pic>
        <p:nvPicPr>
          <p:cNvPr id="16" name="Picture 15">
            <a:extLst>
              <a:ext uri="{FF2B5EF4-FFF2-40B4-BE49-F238E27FC236}">
                <a16:creationId xmlns:a16="http://schemas.microsoft.com/office/drawing/2014/main" id="{97C48D11-CFB5-E284-24EE-5D381B3B4C5B}"/>
              </a:ext>
            </a:extLst>
          </p:cNvPr>
          <p:cNvPicPr>
            <a:picLocks noChangeAspect="1"/>
          </p:cNvPicPr>
          <p:nvPr/>
        </p:nvPicPr>
        <p:blipFill>
          <a:blip r:embed="rId5"/>
          <a:stretch>
            <a:fillRect/>
          </a:stretch>
        </p:blipFill>
        <p:spPr>
          <a:xfrm>
            <a:off x="6366550" y="1825625"/>
            <a:ext cx="5443698" cy="4845005"/>
          </a:xfrm>
          <a:prstGeom prst="rect">
            <a:avLst/>
          </a:prstGeom>
        </p:spPr>
      </p:pic>
    </p:spTree>
    <p:extLst>
      <p:ext uri="{BB962C8B-B14F-4D97-AF65-F5344CB8AC3E}">
        <p14:creationId xmlns:p14="http://schemas.microsoft.com/office/powerpoint/2010/main" val="395884474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9F575-3647-8E00-54B5-C59D06548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D9449-C3BA-96DA-6711-646D2D69268A}"/>
              </a:ext>
            </a:extLst>
          </p:cNvPr>
          <p:cNvSpPr>
            <a:spLocks noGrp="1"/>
          </p:cNvSpPr>
          <p:nvPr>
            <p:ph type="title"/>
          </p:nvPr>
        </p:nvSpPr>
        <p:spPr>
          <a:xfrm>
            <a:off x="838200" y="365125"/>
            <a:ext cx="9476678" cy="1325563"/>
          </a:xfrm>
        </p:spPr>
        <p:txBody>
          <a:bodyPr>
            <a:normAutofit/>
          </a:bodyPr>
          <a:lstStyle/>
          <a:p>
            <a:r>
              <a:rPr lang="en-US" sz="3200" dirty="0"/>
              <a:t>Minnesota has the most cases - 1959 and Puerto Rico has least – 285 per 1000 cases.</a:t>
            </a:r>
          </a:p>
        </p:txBody>
      </p:sp>
      <p:pic>
        <p:nvPicPr>
          <p:cNvPr id="5" name="Content Placeholder 4">
            <a:extLst>
              <a:ext uri="{FF2B5EF4-FFF2-40B4-BE49-F238E27FC236}">
                <a16:creationId xmlns:a16="http://schemas.microsoft.com/office/drawing/2014/main" id="{F94A40F2-8FED-9505-23D1-0E793304EC1C}"/>
              </a:ext>
            </a:extLst>
          </p:cNvPr>
          <p:cNvPicPr>
            <a:picLocks noGrp="1" noChangeAspect="1"/>
          </p:cNvPicPr>
          <p:nvPr>
            <p:ph idx="1"/>
          </p:nvPr>
        </p:nvPicPr>
        <p:blipFill>
          <a:blip r:embed="rId3"/>
          <a:stretch>
            <a:fillRect/>
          </a:stretch>
        </p:blipFill>
        <p:spPr>
          <a:xfrm>
            <a:off x="947057" y="1825625"/>
            <a:ext cx="10473809" cy="4351338"/>
          </a:xfrm>
          <a:prstGeom prst="rect">
            <a:avLst/>
          </a:prstGeom>
        </p:spPr>
      </p:pic>
      <p:pic>
        <p:nvPicPr>
          <p:cNvPr id="4" name="Picture 3">
            <a:extLst>
              <a:ext uri="{FF2B5EF4-FFF2-40B4-BE49-F238E27FC236}">
                <a16:creationId xmlns:a16="http://schemas.microsoft.com/office/drawing/2014/main" id="{3DFB9862-E1E8-A00E-F039-5FF4D0A400CD}"/>
              </a:ext>
            </a:extLst>
          </p:cNvPr>
          <p:cNvPicPr>
            <a:picLocks noChangeAspect="1"/>
          </p:cNvPicPr>
          <p:nvPr/>
        </p:nvPicPr>
        <p:blipFill>
          <a:blip r:embed="rId4"/>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135617911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7C751-F137-9151-C44E-46903EE1E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EF02-D1D5-EC67-2AA7-9364F47EF089}"/>
              </a:ext>
            </a:extLst>
          </p:cNvPr>
          <p:cNvSpPr>
            <a:spLocks noGrp="1"/>
          </p:cNvSpPr>
          <p:nvPr>
            <p:ph type="title"/>
          </p:nvPr>
        </p:nvSpPr>
        <p:spPr>
          <a:xfrm>
            <a:off x="681856" y="365125"/>
            <a:ext cx="9633022" cy="1325563"/>
          </a:xfrm>
        </p:spPr>
        <p:txBody>
          <a:bodyPr>
            <a:normAutofit/>
          </a:bodyPr>
          <a:lstStyle/>
          <a:p>
            <a:r>
              <a:rPr lang="en-US" sz="3200" dirty="0"/>
              <a:t>Boy ratio is higher than girl ratio and this trend has been the same since 2000</a:t>
            </a:r>
          </a:p>
        </p:txBody>
      </p:sp>
      <p:pic>
        <p:nvPicPr>
          <p:cNvPr id="6" name="Content Placeholder 5">
            <a:extLst>
              <a:ext uri="{FF2B5EF4-FFF2-40B4-BE49-F238E27FC236}">
                <a16:creationId xmlns:a16="http://schemas.microsoft.com/office/drawing/2014/main" id="{92A85024-B0B0-F717-7457-C4E160372C31}"/>
              </a:ext>
            </a:extLst>
          </p:cNvPr>
          <p:cNvPicPr>
            <a:picLocks noGrp="1" noChangeAspect="1"/>
          </p:cNvPicPr>
          <p:nvPr>
            <p:ph idx="1"/>
          </p:nvPr>
        </p:nvPicPr>
        <p:blipFill>
          <a:blip r:embed="rId3"/>
          <a:stretch>
            <a:fillRect/>
          </a:stretch>
        </p:blipFill>
        <p:spPr>
          <a:xfrm>
            <a:off x="681856" y="1894114"/>
            <a:ext cx="10796236" cy="4201886"/>
          </a:xfrm>
          <a:prstGeom prst="rect">
            <a:avLst/>
          </a:prstGeom>
        </p:spPr>
      </p:pic>
      <p:pic>
        <p:nvPicPr>
          <p:cNvPr id="4" name="Picture 3">
            <a:extLst>
              <a:ext uri="{FF2B5EF4-FFF2-40B4-BE49-F238E27FC236}">
                <a16:creationId xmlns:a16="http://schemas.microsoft.com/office/drawing/2014/main" id="{796B053F-775D-BE85-FF91-27E774304AC4}"/>
              </a:ext>
            </a:extLst>
          </p:cNvPr>
          <p:cNvPicPr>
            <a:picLocks noChangeAspect="1"/>
          </p:cNvPicPr>
          <p:nvPr/>
        </p:nvPicPr>
        <p:blipFill>
          <a:blip r:embed="rId4"/>
          <a:stretch>
            <a:fillRect/>
          </a:stretch>
        </p:blipFill>
        <p:spPr>
          <a:xfrm>
            <a:off x="10495436" y="365125"/>
            <a:ext cx="982656" cy="1325563"/>
          </a:xfrm>
          <a:prstGeom prst="rect">
            <a:avLst/>
          </a:prstGeom>
        </p:spPr>
      </p:pic>
    </p:spTree>
    <p:extLst>
      <p:ext uri="{BB962C8B-B14F-4D97-AF65-F5344CB8AC3E}">
        <p14:creationId xmlns:p14="http://schemas.microsoft.com/office/powerpoint/2010/main" val="2133941241"/>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51EE1-8442-5B23-392B-CAED297E1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B0F09-088D-FDD4-E91D-36BAEC77C160}"/>
              </a:ext>
            </a:extLst>
          </p:cNvPr>
          <p:cNvSpPr>
            <a:spLocks noGrp="1"/>
          </p:cNvSpPr>
          <p:nvPr>
            <p:ph type="title"/>
          </p:nvPr>
        </p:nvSpPr>
        <p:spPr>
          <a:xfrm>
            <a:off x="838200" y="365125"/>
            <a:ext cx="9476678" cy="1325563"/>
          </a:xfrm>
        </p:spPr>
        <p:txBody>
          <a:bodyPr>
            <a:noAutofit/>
          </a:bodyPr>
          <a:lstStyle/>
          <a:p>
            <a:r>
              <a:rPr lang="en-US" sz="3200" dirty="0"/>
              <a:t>Early identification has increased over the years. Most of the cases are identified before the child is 5 years (60 months)</a:t>
            </a:r>
          </a:p>
        </p:txBody>
      </p:sp>
      <p:pic>
        <p:nvPicPr>
          <p:cNvPr id="6" name="Content Placeholder 5">
            <a:extLst>
              <a:ext uri="{FF2B5EF4-FFF2-40B4-BE49-F238E27FC236}">
                <a16:creationId xmlns:a16="http://schemas.microsoft.com/office/drawing/2014/main" id="{D4866423-3156-EF15-1547-47F736B37DE9}"/>
              </a:ext>
            </a:extLst>
          </p:cNvPr>
          <p:cNvPicPr>
            <a:picLocks noGrp="1" noChangeAspect="1"/>
          </p:cNvPicPr>
          <p:nvPr>
            <p:ph idx="1"/>
          </p:nvPr>
        </p:nvPicPr>
        <p:blipFill>
          <a:blip r:embed="rId3"/>
          <a:stretch>
            <a:fillRect/>
          </a:stretch>
        </p:blipFill>
        <p:spPr>
          <a:xfrm>
            <a:off x="838200" y="1836291"/>
            <a:ext cx="10582666" cy="4852841"/>
          </a:xfrm>
          <a:prstGeom prst="rect">
            <a:avLst/>
          </a:prstGeom>
        </p:spPr>
      </p:pic>
      <p:pic>
        <p:nvPicPr>
          <p:cNvPr id="4" name="Picture 3">
            <a:extLst>
              <a:ext uri="{FF2B5EF4-FFF2-40B4-BE49-F238E27FC236}">
                <a16:creationId xmlns:a16="http://schemas.microsoft.com/office/drawing/2014/main" id="{09881BFF-CBEE-B0AA-CDCC-8F446C5A13A8}"/>
              </a:ext>
            </a:extLst>
          </p:cNvPr>
          <p:cNvPicPr>
            <a:picLocks noChangeAspect="1"/>
          </p:cNvPicPr>
          <p:nvPr/>
        </p:nvPicPr>
        <p:blipFill>
          <a:blip r:embed="rId4"/>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210714246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876DF-91E2-41F6-7D6D-04C1D0103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D342F-13AC-A031-513C-8308AD4BCCB2}"/>
              </a:ext>
            </a:extLst>
          </p:cNvPr>
          <p:cNvSpPr>
            <a:spLocks noGrp="1"/>
          </p:cNvSpPr>
          <p:nvPr>
            <p:ph type="title"/>
          </p:nvPr>
        </p:nvSpPr>
        <p:spPr>
          <a:xfrm>
            <a:off x="870857" y="229507"/>
            <a:ext cx="9448800" cy="1958522"/>
          </a:xfrm>
        </p:spPr>
        <p:txBody>
          <a:bodyPr>
            <a:noAutofit/>
          </a:bodyPr>
          <a:lstStyle/>
          <a:p>
            <a:r>
              <a:rPr lang="en-US" sz="3200" dirty="0"/>
              <a:t>From the year 2000 till 2005, the case identification was less and mostly for White, followed by Black, Hispanic and Asian. Since 2020, all other races have started getting diagnosed and count of cases has increased.</a:t>
            </a:r>
          </a:p>
        </p:txBody>
      </p:sp>
      <p:pic>
        <p:nvPicPr>
          <p:cNvPr id="6" name="Content Placeholder 5">
            <a:extLst>
              <a:ext uri="{FF2B5EF4-FFF2-40B4-BE49-F238E27FC236}">
                <a16:creationId xmlns:a16="http://schemas.microsoft.com/office/drawing/2014/main" id="{DD808545-E225-CD2D-5813-A99AB76A2B19}"/>
              </a:ext>
            </a:extLst>
          </p:cNvPr>
          <p:cNvPicPr>
            <a:picLocks noGrp="1" noChangeAspect="1"/>
          </p:cNvPicPr>
          <p:nvPr>
            <p:ph idx="1"/>
          </p:nvPr>
        </p:nvPicPr>
        <p:blipFill>
          <a:blip r:embed="rId3"/>
          <a:stretch>
            <a:fillRect/>
          </a:stretch>
        </p:blipFill>
        <p:spPr>
          <a:xfrm>
            <a:off x="870857" y="2314360"/>
            <a:ext cx="10550009" cy="4178515"/>
          </a:xfrm>
          <a:prstGeom prst="rect">
            <a:avLst/>
          </a:prstGeom>
        </p:spPr>
      </p:pic>
      <p:pic>
        <p:nvPicPr>
          <p:cNvPr id="4" name="Picture 3">
            <a:extLst>
              <a:ext uri="{FF2B5EF4-FFF2-40B4-BE49-F238E27FC236}">
                <a16:creationId xmlns:a16="http://schemas.microsoft.com/office/drawing/2014/main" id="{58DCC2BC-C44B-1E8A-56BB-F21A4905A2FC}"/>
              </a:ext>
            </a:extLst>
          </p:cNvPr>
          <p:cNvPicPr>
            <a:picLocks noChangeAspect="1"/>
          </p:cNvPicPr>
          <p:nvPr/>
        </p:nvPicPr>
        <p:blipFill>
          <a:blip r:embed="rId4"/>
          <a:stretch>
            <a:fillRect/>
          </a:stretch>
        </p:blipFill>
        <p:spPr>
          <a:xfrm>
            <a:off x="10438210" y="365125"/>
            <a:ext cx="982656" cy="1325563"/>
          </a:xfrm>
          <a:prstGeom prst="rect">
            <a:avLst/>
          </a:prstGeom>
        </p:spPr>
      </p:pic>
    </p:spTree>
    <p:extLst>
      <p:ext uri="{BB962C8B-B14F-4D97-AF65-F5344CB8AC3E}">
        <p14:creationId xmlns:p14="http://schemas.microsoft.com/office/powerpoint/2010/main" val="2930223530"/>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D4908-0B24-80B4-B89C-B764CA9DE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D18E0-077B-CC90-7B45-2812A42544B3}"/>
              </a:ext>
            </a:extLst>
          </p:cNvPr>
          <p:cNvSpPr>
            <a:spLocks noGrp="1"/>
          </p:cNvSpPr>
          <p:nvPr>
            <p:ph type="title"/>
          </p:nvPr>
        </p:nvSpPr>
        <p:spPr>
          <a:xfrm>
            <a:off x="838200" y="365125"/>
            <a:ext cx="9476678" cy="1325563"/>
          </a:xfrm>
        </p:spPr>
        <p:txBody>
          <a:bodyPr/>
          <a:lstStyle/>
          <a:p>
            <a:r>
              <a:rPr lang="en-US" sz="3200" dirty="0"/>
              <a:t>Analysis</a:t>
            </a:r>
            <a:r>
              <a:rPr lang="en-US" dirty="0"/>
              <a:t>	</a:t>
            </a:r>
          </a:p>
        </p:txBody>
      </p:sp>
      <p:sp>
        <p:nvSpPr>
          <p:cNvPr id="3" name="Content Placeholder 2">
            <a:extLst>
              <a:ext uri="{FF2B5EF4-FFF2-40B4-BE49-F238E27FC236}">
                <a16:creationId xmlns:a16="http://schemas.microsoft.com/office/drawing/2014/main" id="{CF52E722-04DA-938E-FFFB-03E3B1069530}"/>
              </a:ext>
            </a:extLst>
          </p:cNvPr>
          <p:cNvSpPr>
            <a:spLocks noGrp="1"/>
          </p:cNvSpPr>
          <p:nvPr>
            <p:ph idx="1"/>
          </p:nvPr>
        </p:nvSpPr>
        <p:spPr/>
        <p:txBody>
          <a:bodyPr>
            <a:normAutofit/>
          </a:bodyPr>
          <a:lstStyle/>
          <a:p>
            <a:r>
              <a:rPr lang="en-US" dirty="0"/>
              <a:t>Based on the analysis, autism prevalence has increased across geographic regions and demographic groups . This increase is mostly because people are more aware of autism, better  screening services are available, and services are easier to access. As families, teachers, and healthcare providers learn more about autism, children are being identified earlier. Early identification helps children get the support they need at home and in school, which can lead to better outcomes.</a:t>
            </a:r>
          </a:p>
        </p:txBody>
      </p:sp>
      <p:pic>
        <p:nvPicPr>
          <p:cNvPr id="4" name="Picture 3">
            <a:extLst>
              <a:ext uri="{FF2B5EF4-FFF2-40B4-BE49-F238E27FC236}">
                <a16:creationId xmlns:a16="http://schemas.microsoft.com/office/drawing/2014/main" id="{F3D0D769-8FE5-4E96-A10B-1EB56AD04DE2}"/>
              </a:ext>
            </a:extLst>
          </p:cNvPr>
          <p:cNvPicPr>
            <a:picLocks noChangeAspect="1"/>
          </p:cNvPicPr>
          <p:nvPr/>
        </p:nvPicPr>
        <p:blipFill>
          <a:blip r:embed="rId3"/>
          <a:stretch>
            <a:fillRect/>
          </a:stretch>
        </p:blipFill>
        <p:spPr>
          <a:xfrm>
            <a:off x="10438210" y="365124"/>
            <a:ext cx="982656" cy="1325563"/>
          </a:xfrm>
          <a:prstGeom prst="rect">
            <a:avLst/>
          </a:prstGeom>
        </p:spPr>
      </p:pic>
    </p:spTree>
    <p:extLst>
      <p:ext uri="{BB962C8B-B14F-4D97-AF65-F5344CB8AC3E}">
        <p14:creationId xmlns:p14="http://schemas.microsoft.com/office/powerpoint/2010/main" val="27813591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1294</TotalTime>
  <Words>576</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ASD Prevalence Analysis</vt:lpstr>
      <vt:lpstr>Abbreviations</vt:lpstr>
      <vt:lpstr>Data sources</vt:lpstr>
      <vt:lpstr>Autism Spectrum Disorder</vt:lpstr>
      <vt:lpstr>Autism Spectrum Disorder</vt:lpstr>
      <vt:lpstr>Key Insights</vt:lpstr>
      <vt:lpstr>Based on the available data, USA has the most cases; so, the analysis will be conducted on USA from 2000-2022.</vt:lpstr>
      <vt:lpstr>Minnesota has the most cases - 1959 and Puerto Rico has least – 285 per 1000 cases.</vt:lpstr>
      <vt:lpstr>Boy ratio is higher than girl ratio and this trend has been the same since 2000</vt:lpstr>
      <vt:lpstr>Early identification has increased over the years. Most of the cases are identified before the child is 5 years (60 months)</vt:lpstr>
      <vt:lpstr>From the year 2000 till 2005, the case identification was less and mostly for White, followed by Black, Hispanic and Asian. Since 2020, all other races have started getting diagnosed and count of cases has increased.</vt:lpstr>
      <vt:lpstr>Analysis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Mehendale</dc:creator>
  <cp:lastModifiedBy>Janvi Mehendale</cp:lastModifiedBy>
  <cp:revision>1</cp:revision>
  <dcterms:created xsi:type="dcterms:W3CDTF">2026-01-26T01:50:22Z</dcterms:created>
  <dcterms:modified xsi:type="dcterms:W3CDTF">2026-02-06T01:36:29Z</dcterms:modified>
</cp:coreProperties>
</file>